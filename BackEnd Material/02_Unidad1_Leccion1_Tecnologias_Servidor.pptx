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234440"/>
            <a:ext cx="173736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pic>
        <p:nvPicPr>
          <p:cNvPr id="5" name="Image 0" descr=".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71600"/>
            <a:ext cx="1600200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16002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14600" y="192024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DEL SERVIDOR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514600" y="33375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· Fundamentos de Backend, protocolos, hosting/dominios y MVC</a:t>
            </a:r>
            <a:endParaRPr lang="en-US" sz="1300" dirty="0"/>
          </a:p>
        </p:txBody>
      </p:sp>
      <p:pic>
        <p:nvPicPr>
          <p:cNvPr id="9" name="Image 1" descr="./assets/logo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Backend?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parte de una aplicación que se ejecuta en el servidor: procesa lógica de negocio, gestiona datos y responde a las solicitudes que llegan desde el cliente. El usuario nunca lo ve directamente, pero sin él la aplicación no funciona.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3931920" cy="365760"/>
          </a:xfrm>
          <a:prstGeom prst="rect">
            <a:avLst/>
          </a:prstGeom>
          <a:solidFill>
            <a:srgbClr val="D4020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ejecuta en el navegador del usuario (cliente)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Interfaz visual: HTML, CSS, JavaScript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Frameworks: React, Vue, Angular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Responsable de la experiencia visual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2011680"/>
            <a:ext cx="393192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24688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ejecuta en el servidor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Lógica de negocio, reglas y validaciones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Lenguajes: Python, Java, PHP, Node.js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Administra la base de datos y la seguridad</a:t>
            </a:r>
            <a:endParaRPr lang="en-US" sz="1300" dirty="0"/>
          </a:p>
        </p:txBody>
      </p:sp>
      <p:pic>
        <p:nvPicPr>
          <p:cNvPr id="8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Cliente-Servidor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aplicación web se basa en la comunicación entre un cliente (quien solicita) y un servidor (quien responde).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/ App móvil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2377440" cy="1188720"/>
          </a:xfrm>
          <a:prstGeom prst="round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y responde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32004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297180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(Request)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GET /productos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606040"/>
            <a:ext cx="3200400" cy="0"/>
          </a:xfrm>
          <a:prstGeom prst="line">
            <a:avLst/>
          </a:prstGeom>
          <a:noFill/>
          <a:ln w="19050">
            <a:solidFill>
              <a:srgbClr val="D40202"/>
            </a:solidFill>
            <a:prstDash val="dash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29718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(Response)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JSON / 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en cada interacción: cada clic, formulario o carga de página genera una nueva solicitud al servidor.</a:t>
            </a:r>
            <a:endParaRPr lang="en-US" sz="1200" dirty="0"/>
          </a:p>
        </p:txBody>
      </p:sp>
      <p:pic>
        <p:nvPicPr>
          <p:cNvPr id="13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Comunicación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(HyperText Transfer Protocol) es el protocolo que permite la comunicación entre cliente y servidor. HTTPS agrega una capa de cifrado (SSL/TLS) para proteger los datos transmitidos.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 / consultar información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 nuevo recurso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un recurso existente por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parcialmente un recurso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un recurso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HTTPS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7840" y="21488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Puerto 80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Datos sin cifrar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Puerto 443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Datos cifrados (SSL/TLS)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Requiere certificado</a:t>
            </a:r>
            <a:endParaRPr lang="en-US" sz="1200" dirty="0"/>
          </a:p>
        </p:txBody>
      </p:sp>
      <p:pic>
        <p:nvPicPr>
          <p:cNvPr id="7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Hosting y Dominios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Nombre legible que identifica un sitio en internet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Traducido a una IP mediante el sistema DNS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Ej: www.inacap.cl → 200.1.x.x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Se administra y renueva mediante un registrador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0" y="1051560"/>
            <a:ext cx="0" cy="30175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4173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Servidor donde "vive" físicamente la aplicación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Tipos: compartido, VPS, dedicado, cloud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Cloud (AWS, Azure, GCP): escalable bajo demanda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Incluye almacenamiento, CPU, memoria y ancho de banda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83210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461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resumen: el dominio es la "dirección" que escribe el usuario, y el hosting es el lugar físico/virtual donde está alojado el servidor que responde a esa dirección.</a:t>
            </a:r>
            <a:endParaRPr lang="en-US" sz="1250" dirty="0"/>
          </a:p>
        </p:txBody>
      </p:sp>
      <p:pic>
        <p:nvPicPr>
          <p:cNvPr id="10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Viaja una Petición? DNS, CDN y Servidor Web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llegar al código del backend, la petición atraviesa varias capas de infraestructura.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1481328" cy="1600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www.inacap.cl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92808" y="2628900"/>
            <a:ext cx="11887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011680" y="1417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1828800"/>
            <a:ext cx="1481328" cy="160020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9202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66544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dominio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IP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93008" y="2628900"/>
            <a:ext cx="11887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611880" y="1417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1828800"/>
            <a:ext cx="1481328" cy="1600200"/>
          </a:xfrm>
          <a:prstGeom prst="roundRect">
            <a:avLst/>
          </a:prstGeom>
          <a:solidFill>
            <a:srgbClr val="8C0202"/>
          </a:solidFill>
          <a:ln w="12700">
            <a:solidFill>
              <a:srgbClr val="8C02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9202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66744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contenido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 cacheado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(imágenes, CSS, JS)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93208" y="2628900"/>
            <a:ext cx="11887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212080" y="1417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1828800"/>
            <a:ext cx="1481328" cy="1600200"/>
          </a:xfrm>
          <a:prstGeom prst="round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9202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66944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Apache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petición HTTP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93408" y="2628900"/>
            <a:ext cx="118872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812280" y="1417320"/>
            <a:ext cx="292608" cy="292608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1828800"/>
            <a:ext cx="1481328" cy="16002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19202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67144" y="2377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/ Django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lógica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342900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DNS: traduce nombres de dominio en direcciones IP (como una agenda de contactos de internet).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CDN (Content Delivery Network): red de servidores distribuidos geográficamente que entregan contenido estático desde el punto más cercano al usuario, reduciendo la latencia.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Servidor Web: gestiona las conexiones HTTP/HTTPS entrantes (Nginx, Apache).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Servidor de Aplicación: ejecuta el código del backend y devuelve la respuesta (Gunicorn + Django).</a:t>
            </a:r>
            <a:endParaRPr lang="en-US" sz="1150" dirty="0"/>
          </a:p>
        </p:txBody>
      </p:sp>
      <p:pic>
        <p:nvPicPr>
          <p:cNvPr id="34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Operaciones del Lenguaje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es un espacio en memoria que almacena un valor. En Python no se declara un tipo explícito: el tipo se infiere según el valor asignado.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0"/>
            <a:ext cx="4023360" cy="28803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 y tipos de datos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"Franco"        # 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32                # 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6.4           # float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 = True             # bool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Operadores aritméticos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10 + 5            # suma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 = 10 % 3            # módulo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Operadores de comparación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es_mayor = edad &gt;= 18     # bool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344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básicos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659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de 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entero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Verdadero / Falso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Vista Controlador (MVC)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arquitectura que separa una aplicación en tres componentes con responsabilidades distintas.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2514600" cy="1051560"/>
          </a:xfrm>
          <a:prstGeom prst="round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lógica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 (BD)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14600" cy="10515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que 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(HTML)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14600" cy="105156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coordina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207568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arrow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06440" y="2075688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arrow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411480" y="28803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Django: Modelo → models.py  |  Vista → templates (HTML)  |  Controlador → views.py + urls.py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 usuario solicita una URL  →  2. El Controlador (view) recibe la petición  →  3. Consulta al Modelo si necesita datos  →  4. Se renderiza la Vista con la respuesta</a:t>
            </a:r>
            <a:endParaRPr lang="en-US" sz="1200" dirty="0"/>
          </a:p>
        </p:txBody>
      </p:sp>
      <p:pic>
        <p:nvPicPr>
          <p:cNvPr id="17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Completa: ¿Dónde estamos parados?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2024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(Navegador)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468880" y="960120"/>
            <a:ext cx="192024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069080" cy="5029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/ Vue / Angular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069080" cy="502920"/>
          </a:xfrm>
          <a:prstGeom prst="round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231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(Backend For Frontend)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4069080" cy="457200"/>
          </a:xfrm>
          <a:prstGeom prst="roundRect">
            <a:avLst/>
          </a:prstGeom>
          <a:solidFill>
            <a:srgbClr val="8C0202"/>
          </a:solidFill>
          <a:ln w="12700">
            <a:solidFill>
              <a:srgbClr val="8C02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54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API 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3886200" cy="502920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916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/ JWT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3886200" cy="640080"/>
          </a:xfrm>
          <a:prstGeom prst="round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23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(Django / Backend)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88620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246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(APIs de terceros)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4069080"/>
            <a:ext cx="3200400" cy="5486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(MySQL)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463040"/>
            <a:ext cx="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429000" y="1463040"/>
            <a:ext cx="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354580" y="2194560"/>
            <a:ext cx="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354580" y="2926080"/>
            <a:ext cx="0" cy="2286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206240" y="3611880"/>
            <a:ext cx="0" cy="45720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389120" y="338328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920240"/>
            <a:ext cx="0" cy="155448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92024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572000" y="2743200"/>
            <a:ext cx="182880" cy="0"/>
          </a:xfrm>
          <a:prstGeom prst="line">
            <a:avLst/>
          </a:prstGeom>
          <a:noFill/>
          <a:ln w="19050">
            <a:solidFill>
              <a:srgbClr val="D40202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572000" y="3474720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675120" y="3063240"/>
            <a:ext cx="0" cy="1280160"/>
          </a:xfrm>
          <a:prstGeom prst="line">
            <a:avLst/>
          </a:prstGeom>
          <a:noFill/>
          <a:ln w="19050">
            <a:solidFill>
              <a:srgbClr val="444444"/>
            </a:solidFill>
            <a:prstDash val="dash"/>
            <a:tailEnd type="arrow"/>
          </a:ln>
        </p:spPr>
      </p:sp>
      <p:pic>
        <p:nvPicPr>
          <p:cNvPr id="32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Clase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3840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El Backend procesa la lógica de negocio y los datos en el servidor, invisible para el usuario.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El modelo Cliente-Servidor se comunica mediante el protocolo HTTP/HTTPS, usando métodos como GET, POST, PUT y DELETE.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Un dominio identifica el sitio; el hosting es el servidor físico o en la nube donde vive la aplicación.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Python usa tipado dinámico: str, int, float y bool son los tipos de datos básicos.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MVC separa Modelo, Vista y Controlador para organizar el código de forma mantenible.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En una arquitectura moderna, el Frontend se conecta a un BFF y una API Gateway, que enrutan hacia la lógica de negocio, servicios externos y la base de datos.</a:t>
            </a:r>
            <a:endParaRPr lang="en-US" sz="1150" dirty="0"/>
          </a:p>
        </p:txBody>
      </p:sp>
      <p:pic>
        <p:nvPicPr>
          <p:cNvPr id="6" name="Image 0" descr="./assets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0916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2026-08-10T12:41:49Z</dcterms:created>
  <dcterms:modified xsi:type="dcterms:W3CDTF">2026-08-10T12:41:49Z</dcterms:modified>
</cp:coreProperties>
</file>